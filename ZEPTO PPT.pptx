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C424-86EC-41BD-B2A5-2991AA1A0B12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7D42C9E-78E2-4039-B5C3-240380EBA02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40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C424-86EC-41BD-B2A5-2991AA1A0B12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42C9E-78E2-4039-B5C3-240380EBA028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3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C424-86EC-41BD-B2A5-2991AA1A0B12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42C9E-78E2-4039-B5C3-240380EBA02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67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C424-86EC-41BD-B2A5-2991AA1A0B12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42C9E-78E2-4039-B5C3-240380EBA028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677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C424-86EC-41BD-B2A5-2991AA1A0B12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42C9E-78E2-4039-B5C3-240380EBA028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794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C424-86EC-41BD-B2A5-2991AA1A0B12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42C9E-78E2-4039-B5C3-240380EBA028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53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C424-86EC-41BD-B2A5-2991AA1A0B12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42C9E-78E2-4039-B5C3-240380EBA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595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C424-86EC-41BD-B2A5-2991AA1A0B12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42C9E-78E2-4039-B5C3-240380EBA028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396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C5BC424-86EC-41BD-B2A5-2991AA1A0B12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42C9E-78E2-4039-B5C3-240380EBA028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760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C424-86EC-41BD-B2A5-2991AA1A0B12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42C9E-78E2-4039-B5C3-240380EBA028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444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C424-86EC-41BD-B2A5-2991AA1A0B12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42C9E-78E2-4039-B5C3-240380EBA02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812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BC424-86EC-41BD-B2A5-2991AA1A0B12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7D42C9E-78E2-4039-B5C3-240380EBA02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03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5204F-B60E-5ED2-EB8C-34FDF9EDE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543" y="682367"/>
            <a:ext cx="12191999" cy="1149168"/>
          </a:xfrm>
        </p:spPr>
        <p:txBody>
          <a:bodyPr>
            <a:normAutofit/>
          </a:bodyPr>
          <a:lstStyle/>
          <a:p>
            <a:r>
              <a:rPr lang="pt-BR" sz="5400" dirty="0"/>
              <a:t>Zepto SQL Data Analysis Project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AA696F-B7AC-0DE5-746E-031375A41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3891" y="2363456"/>
            <a:ext cx="8637072" cy="977621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Koushik bera</a:t>
            </a: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WEBSKITTERS  ACADEMY</a:t>
            </a: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ANALYTICS  BATCH</a:t>
            </a: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ID: </a:t>
            </a:r>
            <a:r>
              <a:rPr lang="en-IN" sz="9600" dirty="0"/>
              <a:t>WA-303-RAKA-IT-DAT-JUL-2025-1</a:t>
            </a: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8629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536DC-CBBB-3485-EF7F-79E5365CF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8" y="-254344"/>
            <a:ext cx="6655883" cy="1261711"/>
          </a:xfrm>
        </p:spPr>
        <p:txBody>
          <a:bodyPr/>
          <a:lstStyle/>
          <a:p>
            <a:r>
              <a:rPr lang="en-US" cap="non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</a:t>
            </a:r>
            <a:r>
              <a:rPr lang="en-IN" cap="non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F2A67A-94B1-8D8C-9229-6BEFD605C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048" y="1160596"/>
            <a:ext cx="11085341" cy="829781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/>
              <a:t>his project simulates how real-world data analysts in the e-commerce and retail industry use SQL to analyze inventory data.</a:t>
            </a:r>
          </a:p>
          <a:p>
            <a:r>
              <a:rPr lang="en-US" sz="9600" dirty="0"/>
              <a:t>Using a real dataset from </a:t>
            </a:r>
            <a:r>
              <a:rPr lang="en-US" sz="9600" dirty="0" err="1"/>
              <a:t>Zepto</a:t>
            </a:r>
            <a:r>
              <a:rPr lang="en-US" sz="9600" dirty="0"/>
              <a:t>, we explore product categories, pricing, availability, and revenue to extract meaningful business insights.</a:t>
            </a:r>
          </a:p>
          <a:p>
            <a:endParaRPr lang="en-IN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7457D63-72B5-F0B4-E4DB-7FFAA62AFF8A}"/>
              </a:ext>
            </a:extLst>
          </p:cNvPr>
          <p:cNvSpPr txBox="1">
            <a:spLocks/>
          </p:cNvSpPr>
          <p:nvPr/>
        </p:nvSpPr>
        <p:spPr>
          <a:xfrm>
            <a:off x="2668647" y="2993610"/>
            <a:ext cx="6655883" cy="1261711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cap="none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GOAL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E9221ED-3634-2098-A760-297126BCB2E6}"/>
              </a:ext>
            </a:extLst>
          </p:cNvPr>
          <p:cNvSpPr txBox="1">
            <a:spLocks/>
          </p:cNvSpPr>
          <p:nvPr/>
        </p:nvSpPr>
        <p:spPr>
          <a:xfrm>
            <a:off x="453917" y="4428773"/>
            <a:ext cx="11085341" cy="829781"/>
          </a:xfrm>
          <a:prstGeom prst="rect">
            <a:avLst/>
          </a:prstGeom>
        </p:spPr>
        <p:txBody>
          <a:bodyPr vert="horz" lIns="91440" tIns="91440" rIns="91440" bIns="9144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/>
              <a:t>To demonstrate SQL-based data exploration, cleaning, and business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601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7AFA1-B380-75C5-1442-E3A049EF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E14DC-0282-B9B4-3C97-CBB955BE1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73" y="1473950"/>
            <a:ext cx="10922859" cy="378156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300" b="1" dirty="0"/>
              <a:t>Dataset Overview</a:t>
            </a:r>
          </a:p>
          <a:p>
            <a:pPr marL="0" indent="0">
              <a:buNone/>
            </a:pPr>
            <a:br>
              <a:rPr lang="en-IN" sz="3300" dirty="0"/>
            </a:br>
            <a:r>
              <a:rPr lang="en-IN" sz="3300" dirty="0"/>
              <a:t>   The dataset was sourced from </a:t>
            </a:r>
            <a:r>
              <a:rPr lang="en-IN" sz="3300" b="1" dirty="0"/>
              <a:t>Kaggle</a:t>
            </a:r>
            <a:r>
              <a:rPr lang="en-IN" sz="3300" dirty="0"/>
              <a:t> and scraped from </a:t>
            </a:r>
            <a:r>
              <a:rPr lang="en-IN" sz="3300" b="1" dirty="0" err="1"/>
              <a:t>Zepto’s</a:t>
            </a:r>
            <a:r>
              <a:rPr lang="en-IN" sz="3300" b="1" dirty="0"/>
              <a:t> official product listings</a:t>
            </a:r>
            <a:r>
              <a:rPr lang="en-IN" sz="3300" dirty="0"/>
              <a:t>.</a:t>
            </a:r>
            <a:br>
              <a:rPr lang="en-IN" sz="3300" dirty="0"/>
            </a:br>
            <a:r>
              <a:rPr lang="en-IN" sz="3300" dirty="0"/>
              <a:t>    It represents a real-world e-commerce inventory system.</a:t>
            </a:r>
          </a:p>
          <a:p>
            <a:pPr marL="0" indent="0">
              <a:buNone/>
            </a:pPr>
            <a:r>
              <a:rPr lang="en-IN" sz="3300" b="1" dirty="0"/>
              <a:t>Key Characteristics:</a:t>
            </a:r>
            <a:endParaRPr lang="en-IN" sz="3300" dirty="0"/>
          </a:p>
          <a:p>
            <a:r>
              <a:rPr lang="en-IN" sz="3300" dirty="0"/>
              <a:t>Duplicate product names exist due to different weights, packages, discounts, or categories</a:t>
            </a:r>
          </a:p>
          <a:p>
            <a:r>
              <a:rPr lang="en-IN" sz="3300" dirty="0"/>
              <a:t>Reflects realistic </a:t>
            </a:r>
            <a:r>
              <a:rPr lang="en-IN" sz="3300" dirty="0" err="1"/>
              <a:t>catalog</a:t>
            </a:r>
            <a:r>
              <a:rPr lang="en-IN" sz="3300" dirty="0"/>
              <a:t> inconsistencies in online retail</a:t>
            </a:r>
          </a:p>
          <a:p>
            <a:pPr marL="0" indent="0">
              <a:buNone/>
            </a:pPr>
            <a:r>
              <a:rPr lang="en-IN" sz="3300" b="1" dirty="0"/>
              <a:t>Columns Include:</a:t>
            </a:r>
            <a:br>
              <a:rPr lang="en-IN" sz="3300" dirty="0"/>
            </a:br>
            <a:r>
              <a:rPr lang="en-IN" sz="3300" dirty="0"/>
              <a:t> name, category, </a:t>
            </a:r>
            <a:r>
              <a:rPr lang="en-IN" sz="3300" dirty="0" err="1"/>
              <a:t>mrp</a:t>
            </a:r>
            <a:r>
              <a:rPr lang="en-IN" sz="3300" dirty="0"/>
              <a:t>, </a:t>
            </a:r>
            <a:r>
              <a:rPr lang="en-IN" sz="3300" dirty="0" err="1"/>
              <a:t>discountPercent</a:t>
            </a:r>
            <a:r>
              <a:rPr lang="en-IN" sz="3300" dirty="0"/>
              <a:t>, </a:t>
            </a:r>
            <a:r>
              <a:rPr lang="en-IN" sz="3300" dirty="0" err="1"/>
              <a:t>discountedSellingPrice</a:t>
            </a:r>
            <a:r>
              <a:rPr lang="en-IN" sz="3300" dirty="0"/>
              <a:t>, </a:t>
            </a:r>
            <a:r>
              <a:rPr lang="en-IN" sz="3300" dirty="0" err="1"/>
              <a:t>availableQuantity</a:t>
            </a:r>
            <a:r>
              <a:rPr lang="en-IN" sz="3300" dirty="0"/>
              <a:t>, </a:t>
            </a:r>
            <a:r>
              <a:rPr lang="en-IN" sz="3300" dirty="0" err="1"/>
              <a:t>weightInGms</a:t>
            </a:r>
            <a:r>
              <a:rPr lang="en-IN" sz="3300" dirty="0"/>
              <a:t>, </a:t>
            </a:r>
            <a:r>
              <a:rPr lang="en-IN" sz="3300" dirty="0" err="1"/>
              <a:t>outOfStock</a:t>
            </a:r>
            <a:r>
              <a:rPr lang="en-IN" sz="3300" dirty="0"/>
              <a:t>, quantity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15F81B-3BCA-3AB8-86B5-03C40D8E7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221" y="4875710"/>
            <a:ext cx="5671723" cy="198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21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6591A-8661-D9A3-9A80-A98F1B4E6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AECE-6F58-A98D-676D-434F6AC1C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E-commerce platforms store massive volumes of raw product data, but challenges arise due to:</a:t>
            </a:r>
          </a:p>
          <a:p>
            <a:r>
              <a:rPr lang="en-US" dirty="0"/>
              <a:t>Pricing inconsistencies (paise vs rupees)</a:t>
            </a:r>
          </a:p>
          <a:p>
            <a:r>
              <a:rPr lang="en-US" dirty="0"/>
              <a:t>Null and invalid values</a:t>
            </a:r>
          </a:p>
          <a:p>
            <a:r>
              <a:rPr lang="en-US" dirty="0"/>
              <a:t>Duplicate product listings</a:t>
            </a:r>
          </a:p>
          <a:p>
            <a:r>
              <a:rPr lang="en-US" dirty="0"/>
              <a:t>Difficulty in evaluating inventory, discounts, and revenue</a:t>
            </a:r>
          </a:p>
          <a:p>
            <a:pPr marL="0" indent="0">
              <a:buNone/>
            </a:pPr>
            <a:r>
              <a:rPr lang="en-US" b="1" dirty="0"/>
              <a:t>Need:</a:t>
            </a:r>
            <a:br>
              <a:rPr lang="en-US" dirty="0"/>
            </a:br>
            <a:r>
              <a:rPr lang="en-US" dirty="0"/>
              <a:t>  To clean, structure, and analyze this data using SQL to generate business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9211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DF3CA-6402-063E-00DD-130D5F4C0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6968" y="109728"/>
            <a:ext cx="10167884" cy="1213177"/>
          </a:xfrm>
        </p:spPr>
        <p:txBody>
          <a:bodyPr/>
          <a:lstStyle/>
          <a:p>
            <a:r>
              <a:rPr lang="en-IN" dirty="0"/>
              <a:t>Objective of the Study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A0F0C9-DFA3-D541-1B87-E9480E6B52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68305" y="1970763"/>
            <a:ext cx="11623695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real-world e-commerce inventory database in SQL.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products, categories, and stock.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the data by handling nulls, removing invalid entries, and converting prices.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business-driven SQL queries to analyze: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levels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availability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47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F9E5CC-0EDD-CD85-A4D6-B5F7AA73C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" y="1934366"/>
            <a:ext cx="4443662" cy="140963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556678-1CB4-64E9-E549-B43D6A6D6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389" y="1938160"/>
            <a:ext cx="3881265" cy="17713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14AAD4-81F7-0813-BF79-142F921EC8C8}"/>
              </a:ext>
            </a:extLst>
          </p:cNvPr>
          <p:cNvSpPr txBox="1"/>
          <p:nvPr/>
        </p:nvSpPr>
        <p:spPr>
          <a:xfrm>
            <a:off x="171078" y="1154513"/>
            <a:ext cx="9406806" cy="4001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Q1. Find the top 10 best-value products based on the discount percentage.</a:t>
            </a:r>
            <a:endParaRPr lang="en-IN" sz="2000" b="1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0BCAA0E-1F4E-451C-CB35-CF1DBCF58EC9}"/>
              </a:ext>
            </a:extLst>
          </p:cNvPr>
          <p:cNvSpPr/>
          <p:nvPr/>
        </p:nvSpPr>
        <p:spPr>
          <a:xfrm>
            <a:off x="4520610" y="2454518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A5B032-C2F5-90DD-FE5A-DA81D79B5651}"/>
              </a:ext>
            </a:extLst>
          </p:cNvPr>
          <p:cNvSpPr txBox="1"/>
          <p:nvPr/>
        </p:nvSpPr>
        <p:spPr>
          <a:xfrm>
            <a:off x="9577884" y="1969806"/>
            <a:ext cx="2615958" cy="190821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Identifies the top 10 products offering the highest discounts, helping customers find best-value deals.</a:t>
            </a:r>
          </a:p>
          <a:p>
            <a:endParaRPr lang="en-IN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5A67B4A-0BA2-7732-E259-68420606A0FD}"/>
              </a:ext>
            </a:extLst>
          </p:cNvPr>
          <p:cNvSpPr/>
          <p:nvPr/>
        </p:nvSpPr>
        <p:spPr>
          <a:xfrm>
            <a:off x="9014738" y="2454518"/>
            <a:ext cx="547104" cy="400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6B7972-4877-9AF9-1C78-5B7F836B667C}"/>
              </a:ext>
            </a:extLst>
          </p:cNvPr>
          <p:cNvSpPr txBox="1"/>
          <p:nvPr/>
        </p:nvSpPr>
        <p:spPr>
          <a:xfrm>
            <a:off x="171078" y="4061282"/>
            <a:ext cx="9406806" cy="4001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Q2.What are the Products with High MRP but Out of Stock</a:t>
            </a:r>
            <a:endParaRPr lang="en-IN" sz="20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8865594-9872-5F23-30BD-E071CB71D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78" y="4797138"/>
            <a:ext cx="2544147" cy="8678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E6CC1FD-8659-584B-CDB8-3453F98FFC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192" y="4514561"/>
            <a:ext cx="3286584" cy="1581439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06CCC075-D4D2-6FD3-B6D6-42ACCFA0694B}"/>
              </a:ext>
            </a:extLst>
          </p:cNvPr>
          <p:cNvSpPr/>
          <p:nvPr/>
        </p:nvSpPr>
        <p:spPr>
          <a:xfrm>
            <a:off x="3020861" y="4994006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B059BC17-0569-839E-1F94-AE2BD4E4250A}"/>
              </a:ext>
            </a:extLst>
          </p:cNvPr>
          <p:cNvSpPr/>
          <p:nvPr/>
        </p:nvSpPr>
        <p:spPr>
          <a:xfrm>
            <a:off x="7467412" y="4994006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1B134E-8FFB-AC97-CB3D-EDAD9158B25E}"/>
              </a:ext>
            </a:extLst>
          </p:cNvPr>
          <p:cNvSpPr txBox="1"/>
          <p:nvPr/>
        </p:nvSpPr>
        <p:spPr>
          <a:xfrm>
            <a:off x="8321742" y="4595301"/>
            <a:ext cx="3699179" cy="132343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Finds </a:t>
            </a:r>
            <a:r>
              <a:rPr lang="en-US" sz="2000" b="1" dirty="0"/>
              <a:t>expensive products that are unavailable</a:t>
            </a:r>
            <a:r>
              <a:rPr lang="en-US" sz="2000" dirty="0"/>
              <a:t>, helping inventory teams restock high-value items.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863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EE4648-7FCD-CB6B-0C18-38F75F5BA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15"/>
          <a:stretch>
            <a:fillRect/>
          </a:stretch>
        </p:blipFill>
        <p:spPr>
          <a:xfrm>
            <a:off x="-6549" y="869043"/>
            <a:ext cx="4792669" cy="1505189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0684D5-7D19-E6D5-25F2-22C6CE8B00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523" y="165855"/>
            <a:ext cx="11687509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Q3. Find the top 10 best-value products based on the discount percentage.</a:t>
            </a:r>
            <a:endParaRPr lang="en-IN" sz="2000" b="1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43D1FB2-7B4C-5D04-A45A-623CB6CF6B9C}"/>
              </a:ext>
            </a:extLst>
          </p:cNvPr>
          <p:cNvSpPr/>
          <p:nvPr/>
        </p:nvSpPr>
        <p:spPr>
          <a:xfrm>
            <a:off x="4873537" y="1053709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9323A4-F962-BF21-AAED-0926C88A68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649" y="714427"/>
            <a:ext cx="2520242" cy="19147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D69DF9-99FC-5ACE-81FA-A8E0D3F41B97}"/>
              </a:ext>
            </a:extLst>
          </p:cNvPr>
          <p:cNvSpPr txBox="1"/>
          <p:nvPr/>
        </p:nvSpPr>
        <p:spPr>
          <a:xfrm>
            <a:off x="8782218" y="714427"/>
            <a:ext cx="3409782" cy="132343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Estimates </a:t>
            </a:r>
            <a:r>
              <a:rPr lang="en-US" sz="2000" b="1" dirty="0"/>
              <a:t>potential revenue per category</a:t>
            </a:r>
            <a:r>
              <a:rPr lang="en-US" sz="2000" dirty="0"/>
              <a:t>, enabling management to focus on high-performing product segments.</a:t>
            </a:r>
            <a:endParaRPr lang="en-IN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7A2B78B-BE74-91CB-D21E-BC7790F44374}"/>
              </a:ext>
            </a:extLst>
          </p:cNvPr>
          <p:cNvSpPr/>
          <p:nvPr/>
        </p:nvSpPr>
        <p:spPr>
          <a:xfrm>
            <a:off x="8117308" y="1238375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D5892185-D67D-76E2-296F-18FD7FF9ADBF}"/>
              </a:ext>
            </a:extLst>
          </p:cNvPr>
          <p:cNvSpPr txBox="1">
            <a:spLocks/>
          </p:cNvSpPr>
          <p:nvPr/>
        </p:nvSpPr>
        <p:spPr>
          <a:xfrm>
            <a:off x="0" y="2963075"/>
            <a:ext cx="12192000" cy="3416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Q4.  Find all products where MRP is greater than ₹500 and discount is less than 10%.</a:t>
            </a:r>
            <a:endParaRPr lang="en-IN" sz="18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C0AE25-A253-03F6-F671-7B965639D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22" y="3553294"/>
            <a:ext cx="3735125" cy="1248826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D9EA8909-DA5C-FC2A-8CD5-6A5BBCA03B14}"/>
              </a:ext>
            </a:extLst>
          </p:cNvPr>
          <p:cNvSpPr/>
          <p:nvPr/>
        </p:nvSpPr>
        <p:spPr>
          <a:xfrm>
            <a:off x="3960570" y="3914266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99F132-45A0-9110-DBC9-B1B9A6507D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146" y="3429000"/>
            <a:ext cx="3160293" cy="16281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9962C53-22A5-8A23-2985-ED67838B6351}"/>
              </a:ext>
            </a:extLst>
          </p:cNvPr>
          <p:cNvSpPr txBox="1"/>
          <p:nvPr/>
        </p:nvSpPr>
        <p:spPr>
          <a:xfrm>
            <a:off x="8455938" y="3393234"/>
            <a:ext cx="3736062" cy="286232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 </a:t>
            </a:r>
            <a:r>
              <a:rPr lang="en-US" dirty="0" err="1"/>
              <a:t>mrp</a:t>
            </a:r>
            <a:r>
              <a:rPr lang="en-US" dirty="0"/>
              <a:t> &gt; 500 → Filters only high-priced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 </a:t>
            </a:r>
            <a:r>
              <a:rPr lang="en-US" dirty="0" err="1"/>
              <a:t>discountPercent</a:t>
            </a:r>
            <a:r>
              <a:rPr lang="en-US" dirty="0"/>
              <a:t> &lt; 10 → Keeps only products with minimal discounts.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 BY </a:t>
            </a:r>
            <a:r>
              <a:rPr lang="en-US" dirty="0" err="1"/>
              <a:t>mrp</a:t>
            </a:r>
            <a:r>
              <a:rPr lang="en-US" dirty="0"/>
              <a:t> DESC → Displays the most expensive products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 BY </a:t>
            </a:r>
            <a:r>
              <a:rPr lang="en-US" dirty="0" err="1"/>
              <a:t>discountPercent</a:t>
            </a:r>
            <a:r>
              <a:rPr lang="en-US" dirty="0"/>
              <a:t> DESC → Among similar MRPs, higher discounts appear first.</a:t>
            </a:r>
            <a:endParaRPr lang="en-IN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05F1955-6D04-621F-014D-99B00B49A6B2}"/>
              </a:ext>
            </a:extLst>
          </p:cNvPr>
          <p:cNvSpPr/>
          <p:nvPr/>
        </p:nvSpPr>
        <p:spPr>
          <a:xfrm>
            <a:off x="7817320" y="4068035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9400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C19C9D-8D66-C564-C591-36646213E5A7}"/>
              </a:ext>
            </a:extLst>
          </p:cNvPr>
          <p:cNvSpPr txBox="1">
            <a:spLocks/>
          </p:cNvSpPr>
          <p:nvPr/>
        </p:nvSpPr>
        <p:spPr>
          <a:xfrm>
            <a:off x="0" y="112295"/>
            <a:ext cx="12192000" cy="60016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 wrap="square" lIns="91440" tIns="45720" rIns="9144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Q5. Identify the top 5 categories offering the highest average discount percentage.</a:t>
            </a: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E82C9-5279-DF54-BC30-571EF2D8D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49920"/>
            <a:ext cx="3250094" cy="12441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278157-C788-274B-D17E-60748F9999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514" y="1049920"/>
            <a:ext cx="2735681" cy="1476783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5DC9B09C-0CE6-6E4D-D72D-C32A082A7889}"/>
              </a:ext>
            </a:extLst>
          </p:cNvPr>
          <p:cNvSpPr/>
          <p:nvPr/>
        </p:nvSpPr>
        <p:spPr>
          <a:xfrm>
            <a:off x="3323819" y="1479702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DC108E-050C-E2FE-7D25-F076E1C4530A}"/>
              </a:ext>
            </a:extLst>
          </p:cNvPr>
          <p:cNvSpPr txBox="1"/>
          <p:nvPr/>
        </p:nvSpPr>
        <p:spPr>
          <a:xfrm>
            <a:off x="7304338" y="787765"/>
            <a:ext cx="4887661" cy="23391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AVG(</a:t>
            </a:r>
            <a:r>
              <a:rPr lang="en-US" sz="1600" dirty="0" err="1"/>
              <a:t>discountPercent</a:t>
            </a:r>
            <a:r>
              <a:rPr lang="en-US" sz="1600" dirty="0"/>
              <a:t>) → Calculates the average discount within each category.</a:t>
            </a:r>
          </a:p>
          <a:p>
            <a:r>
              <a:rPr lang="en-US" sz="1600" dirty="0"/>
              <a:t>ROUND(..., 2) → Rounds the average discount to 2 decimal places for better readability.</a:t>
            </a:r>
          </a:p>
          <a:p>
            <a:r>
              <a:rPr lang="en-US" sz="1600" dirty="0"/>
              <a:t>GROUP BY category → Groups all products by their category.</a:t>
            </a:r>
          </a:p>
          <a:p>
            <a:r>
              <a:rPr lang="en-US" sz="1600" dirty="0"/>
              <a:t>ORDER BY </a:t>
            </a:r>
            <a:r>
              <a:rPr lang="en-US" sz="1600" dirty="0" err="1"/>
              <a:t>avg_discount</a:t>
            </a:r>
            <a:r>
              <a:rPr lang="en-US" sz="1600" dirty="0"/>
              <a:t> DESC → Sorts categories from highest to lowest average discount.</a:t>
            </a:r>
          </a:p>
          <a:p>
            <a:r>
              <a:rPr lang="en-US" sz="1600" dirty="0"/>
              <a:t>LIMIT 5 → Returns only the top 5 categories.</a:t>
            </a:r>
            <a:endParaRPr lang="en-IN" sz="14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CA4412E-DC0D-7858-4938-C4A7E621D26A}"/>
              </a:ext>
            </a:extLst>
          </p:cNvPr>
          <p:cNvSpPr/>
          <p:nvPr/>
        </p:nvSpPr>
        <p:spPr>
          <a:xfrm>
            <a:off x="6681919" y="1603645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95BC73B0-5E55-58AD-819A-749EA42B6E0F}"/>
              </a:ext>
            </a:extLst>
          </p:cNvPr>
          <p:cNvSpPr txBox="1">
            <a:spLocks/>
          </p:cNvSpPr>
          <p:nvPr/>
        </p:nvSpPr>
        <p:spPr>
          <a:xfrm>
            <a:off x="0" y="3894110"/>
            <a:ext cx="12192000" cy="3231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 wrap="square" lIns="91440" tIns="45720" rIns="9144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Q6. Find the price per gram for products above 100g and sort by best value.</a:t>
            </a:r>
            <a:endParaRPr lang="en-IN" sz="20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EC151E-7985-9023-F1CD-F4AD5734C2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30428"/>
            <a:ext cx="3323819" cy="183192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8A4D6963-6247-7E97-997B-A2EBC7A1E347}"/>
              </a:ext>
            </a:extLst>
          </p:cNvPr>
          <p:cNvSpPr/>
          <p:nvPr/>
        </p:nvSpPr>
        <p:spPr>
          <a:xfrm>
            <a:off x="3417363" y="5193632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A02B0C-6D40-65FA-7D59-60012053BA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852" y="4479674"/>
            <a:ext cx="2540067" cy="165873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AB9ED8D-4496-36FD-B95C-7AEE6BB1B9AE}"/>
              </a:ext>
            </a:extLst>
          </p:cNvPr>
          <p:cNvSpPr txBox="1"/>
          <p:nvPr/>
        </p:nvSpPr>
        <p:spPr>
          <a:xfrm>
            <a:off x="7378062" y="4303455"/>
            <a:ext cx="4813939" cy="255454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WHERE </a:t>
            </a:r>
            <a:r>
              <a:rPr lang="en-US" sz="1600" dirty="0" err="1"/>
              <a:t>weightInGms</a:t>
            </a:r>
            <a:r>
              <a:rPr lang="en-US" sz="1600" dirty="0"/>
              <a:t> &gt;= 100 → Filters products with sufficient weight for fair comparison.</a:t>
            </a:r>
          </a:p>
          <a:p>
            <a:r>
              <a:rPr lang="en-US" sz="1600" dirty="0" err="1"/>
              <a:t>discountedSellingPrice</a:t>
            </a:r>
            <a:r>
              <a:rPr lang="en-US" sz="1600" dirty="0"/>
              <a:t> / </a:t>
            </a:r>
            <a:r>
              <a:rPr lang="en-US" sz="1600" dirty="0" err="1"/>
              <a:t>weightInGms</a:t>
            </a:r>
            <a:r>
              <a:rPr lang="en-US" sz="1600" dirty="0"/>
              <a:t> → Calculates the cost per gram.</a:t>
            </a:r>
          </a:p>
          <a:p>
            <a:r>
              <a:rPr lang="en-US" sz="1600" dirty="0"/>
              <a:t>ROUND(...,2) → Rounds the result to 2 decimal places for readability.</a:t>
            </a:r>
          </a:p>
          <a:p>
            <a:r>
              <a:rPr lang="en-US" sz="1600" dirty="0"/>
              <a:t>ORDER BY </a:t>
            </a:r>
            <a:r>
              <a:rPr lang="en-US" sz="1600" dirty="0" err="1"/>
              <a:t>price_per_gram</a:t>
            </a:r>
            <a:r>
              <a:rPr lang="en-US" sz="1600" dirty="0"/>
              <a:t> → Sorts results from lowest to highest price per gram, meaning the cheapest per gram appears first.</a:t>
            </a:r>
          </a:p>
          <a:p>
            <a:r>
              <a:rPr lang="en-US" sz="1600" dirty="0"/>
              <a:t>DISTINCT → Avoids duplicate product names..</a:t>
            </a:r>
            <a:endParaRPr lang="en-IN" sz="1400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4305E8D-7F1D-FAEC-E6A1-3AB78CA82ADE}"/>
              </a:ext>
            </a:extLst>
          </p:cNvPr>
          <p:cNvSpPr/>
          <p:nvPr/>
        </p:nvSpPr>
        <p:spPr>
          <a:xfrm>
            <a:off x="6755643" y="4966945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3204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5B824B-A7C5-257F-92B3-B937F33E34C7}"/>
              </a:ext>
            </a:extLst>
          </p:cNvPr>
          <p:cNvSpPr txBox="1">
            <a:spLocks/>
          </p:cNvSpPr>
          <p:nvPr/>
        </p:nvSpPr>
        <p:spPr>
          <a:xfrm>
            <a:off x="0" y="108655"/>
            <a:ext cx="12192000" cy="3231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 wrap="square" lIns="91440" tIns="45720" rIns="9144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Q7.Group the products into categories like Low, Medium, Bulk.</a:t>
            </a: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1D41C7-EA9B-2200-20C4-B5A93467C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96751"/>
            <a:ext cx="3228635" cy="1529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E003BE-BCB4-DC82-631D-00F2881A1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264" y="796751"/>
            <a:ext cx="3010320" cy="1829055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ACC7EAE3-EE54-8DD1-E7DF-FE1E4B30B151}"/>
              </a:ext>
            </a:extLst>
          </p:cNvPr>
          <p:cNvSpPr/>
          <p:nvPr/>
        </p:nvSpPr>
        <p:spPr>
          <a:xfrm>
            <a:off x="3322569" y="1526612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2C128F-93AF-2868-06AF-875EE372B430}"/>
              </a:ext>
            </a:extLst>
          </p:cNvPr>
          <p:cNvSpPr txBox="1"/>
          <p:nvPr/>
        </p:nvSpPr>
        <p:spPr>
          <a:xfrm>
            <a:off x="7490558" y="566678"/>
            <a:ext cx="4701442" cy="28623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CASE WHEN → Applies conditional logic to classify products based on weight.</a:t>
            </a:r>
          </a:p>
          <a:p>
            <a:r>
              <a:rPr lang="en-IN" dirty="0"/>
              <a:t>Products:</a:t>
            </a:r>
          </a:p>
          <a:p>
            <a:r>
              <a:rPr lang="en-IN" dirty="0"/>
              <a:t>Less than 1000g → Low</a:t>
            </a:r>
          </a:p>
          <a:p>
            <a:r>
              <a:rPr lang="en-IN" dirty="0"/>
              <a:t>Between 1000g and 4999g → Medium</a:t>
            </a:r>
          </a:p>
          <a:p>
            <a:r>
              <a:rPr lang="en-IN" dirty="0"/>
              <a:t>5000g and above → Bulk</a:t>
            </a:r>
          </a:p>
          <a:p>
            <a:r>
              <a:rPr lang="en-IN" dirty="0"/>
              <a:t>AS </a:t>
            </a:r>
            <a:r>
              <a:rPr lang="en-IN" dirty="0" err="1"/>
              <a:t>weight_category</a:t>
            </a:r>
            <a:r>
              <a:rPr lang="en-IN" dirty="0"/>
              <a:t> → Creates a new readable column with category labels.</a:t>
            </a:r>
          </a:p>
          <a:p>
            <a:r>
              <a:rPr lang="en-IN" dirty="0"/>
              <a:t>DISTINCT → Ensures duplicate product names are removed.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41F67C6-A12A-A343-0B61-6ED359D455E1}"/>
              </a:ext>
            </a:extLst>
          </p:cNvPr>
          <p:cNvSpPr/>
          <p:nvPr/>
        </p:nvSpPr>
        <p:spPr>
          <a:xfrm>
            <a:off x="6881584" y="1526612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0EC89B06-8EEA-1447-001E-8D83C679A7C9}"/>
              </a:ext>
            </a:extLst>
          </p:cNvPr>
          <p:cNvSpPr txBox="1">
            <a:spLocks/>
          </p:cNvSpPr>
          <p:nvPr/>
        </p:nvSpPr>
        <p:spPr>
          <a:xfrm>
            <a:off x="-1" y="3669637"/>
            <a:ext cx="12192000" cy="3231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 wrap="square" lIns="91440" tIns="45720" rIns="9144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Q8.What is the Total Inventory Weight Per Category .</a:t>
            </a:r>
            <a:endParaRPr lang="en-IN" sz="20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414503-AAE7-F3D5-9035-12EE6A291F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089" y="4512685"/>
            <a:ext cx="3620005" cy="10478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846FA00-41A1-1733-5B2B-A1D02E9DA0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870" y="4213141"/>
            <a:ext cx="2029108" cy="1848108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A7584C6D-6AAF-F11C-AB56-5D63E253CE91}"/>
              </a:ext>
            </a:extLst>
          </p:cNvPr>
          <p:cNvSpPr/>
          <p:nvPr/>
        </p:nvSpPr>
        <p:spPr>
          <a:xfrm>
            <a:off x="3705045" y="4743160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02CF6-C8D0-59AC-614A-BEFC88EFE1AE}"/>
              </a:ext>
            </a:extLst>
          </p:cNvPr>
          <p:cNvSpPr txBox="1"/>
          <p:nvPr/>
        </p:nvSpPr>
        <p:spPr>
          <a:xfrm>
            <a:off x="7155930" y="4158861"/>
            <a:ext cx="5036069" cy="230832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category → groups the products by category.</a:t>
            </a:r>
          </a:p>
          <a:p>
            <a:r>
              <a:rPr lang="en-IN" dirty="0"/>
              <a:t>SUM(</a:t>
            </a:r>
            <a:r>
              <a:rPr lang="en-IN" dirty="0" err="1"/>
              <a:t>weightInGms</a:t>
            </a:r>
            <a:r>
              <a:rPr lang="en-IN" dirty="0"/>
              <a:t> * </a:t>
            </a:r>
            <a:r>
              <a:rPr lang="en-IN" dirty="0" err="1"/>
              <a:t>availableQuantity</a:t>
            </a:r>
            <a:r>
              <a:rPr lang="en-IN" dirty="0"/>
              <a:t>) → calculates the total inventory weight for each category (weight per unit × number of units available).</a:t>
            </a:r>
          </a:p>
          <a:p>
            <a:r>
              <a:rPr lang="en-IN" dirty="0"/>
              <a:t>GROUP BY category → ensures the SUM is calculated per category.</a:t>
            </a:r>
          </a:p>
          <a:p>
            <a:r>
              <a:rPr lang="en-IN" dirty="0"/>
              <a:t>ORDER BY </a:t>
            </a:r>
            <a:r>
              <a:rPr lang="en-IN" dirty="0" err="1"/>
              <a:t>total_weight</a:t>
            </a:r>
            <a:r>
              <a:rPr lang="en-IN" dirty="0"/>
              <a:t> → sorts categories by their total weight in ascending order.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E46AC32-1B63-3526-C5C8-53340EB16CDD}"/>
              </a:ext>
            </a:extLst>
          </p:cNvPr>
          <p:cNvSpPr/>
          <p:nvPr/>
        </p:nvSpPr>
        <p:spPr>
          <a:xfrm>
            <a:off x="6532142" y="4854867"/>
            <a:ext cx="54869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661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15860-C05B-23E7-5EE5-39A176FF9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2A5937D-202C-4497-638A-4AFC9C0E2FC6}"/>
              </a:ext>
            </a:extLst>
          </p:cNvPr>
          <p:cNvGrpSpPr/>
          <p:nvPr/>
        </p:nvGrpSpPr>
        <p:grpSpPr>
          <a:xfrm>
            <a:off x="1450975" y="2840533"/>
            <a:ext cx="9604374" cy="1800820"/>
            <a:chOff x="1450975" y="2840533"/>
            <a:chExt cx="9604374" cy="180082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88E726F-45E1-7E44-ADDD-C18DCD56DFED}"/>
                </a:ext>
              </a:extLst>
            </p:cNvPr>
            <p:cNvSpPr/>
            <p:nvPr/>
          </p:nvSpPr>
          <p:spPr>
            <a:xfrm>
              <a:off x="1450975" y="2840533"/>
              <a:ext cx="3001367" cy="1800820"/>
            </a:xfrm>
            <a:custGeom>
              <a:avLst/>
              <a:gdLst>
                <a:gd name="csX0" fmla="*/ 0 w 3001367"/>
                <a:gd name="csY0" fmla="*/ 0 h 1800820"/>
                <a:gd name="csX1" fmla="*/ 3001367 w 3001367"/>
                <a:gd name="csY1" fmla="*/ 0 h 1800820"/>
                <a:gd name="csX2" fmla="*/ 3001367 w 3001367"/>
                <a:gd name="csY2" fmla="*/ 1800820 h 1800820"/>
                <a:gd name="csX3" fmla="*/ 0 w 3001367"/>
                <a:gd name="csY3" fmla="*/ 1800820 h 1800820"/>
                <a:gd name="csX4" fmla="*/ 0 w 3001367"/>
                <a:gd name="csY4" fmla="*/ 0 h 18008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01367" h="1800820">
                  <a:moveTo>
                    <a:pt x="0" y="0"/>
                  </a:moveTo>
                  <a:lnTo>
                    <a:pt x="3001367" y="0"/>
                  </a:lnTo>
                  <a:lnTo>
                    <a:pt x="3001367" y="1800820"/>
                  </a:lnTo>
                  <a:lnTo>
                    <a:pt x="0" y="18008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t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/>
                <a:t>1.Total Inventory weight by category</a:t>
              </a:r>
              <a:endParaRPr lang="en-IN" sz="170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300" kern="1200" dirty="0"/>
                <a:t>Helps </a:t>
              </a:r>
              <a:r>
                <a:rPr lang="en-US" sz="1300" kern="1200" dirty="0" err="1"/>
                <a:t>indentifly</a:t>
              </a:r>
              <a:r>
                <a:rPr lang="en-US" sz="1300" kern="1200" dirty="0"/>
                <a:t> which categories hold the most stock by weight.</a:t>
              </a:r>
              <a:endParaRPr lang="en-IN" sz="13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997B34-743D-95CB-1EA1-511165D27DC9}"/>
                </a:ext>
              </a:extLst>
            </p:cNvPr>
            <p:cNvSpPr/>
            <p:nvPr/>
          </p:nvSpPr>
          <p:spPr>
            <a:xfrm>
              <a:off x="4752478" y="2840533"/>
              <a:ext cx="3001367" cy="1800820"/>
            </a:xfrm>
            <a:custGeom>
              <a:avLst/>
              <a:gdLst>
                <a:gd name="csX0" fmla="*/ 0 w 3001367"/>
                <a:gd name="csY0" fmla="*/ 0 h 1800820"/>
                <a:gd name="csX1" fmla="*/ 3001367 w 3001367"/>
                <a:gd name="csY1" fmla="*/ 0 h 1800820"/>
                <a:gd name="csX2" fmla="*/ 3001367 w 3001367"/>
                <a:gd name="csY2" fmla="*/ 1800820 h 1800820"/>
                <a:gd name="csX3" fmla="*/ 0 w 3001367"/>
                <a:gd name="csY3" fmla="*/ 1800820 h 1800820"/>
                <a:gd name="csX4" fmla="*/ 0 w 3001367"/>
                <a:gd name="csY4" fmla="*/ 0 h 18008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01367" h="1800820">
                  <a:moveTo>
                    <a:pt x="0" y="0"/>
                  </a:moveTo>
                  <a:lnTo>
                    <a:pt x="3001367" y="0"/>
                  </a:lnTo>
                  <a:lnTo>
                    <a:pt x="3001367" y="1800820"/>
                  </a:lnTo>
                  <a:lnTo>
                    <a:pt x="0" y="18008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t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/>
                <a:t>2.Top Performing Categories (by available quantity &amp; value)</a:t>
              </a:r>
              <a:endParaRPr lang="en-IN" sz="170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300" kern="1200" dirty="0"/>
                <a:t>Categories with highest available quantity indicate popular or overstocked products.</a:t>
              </a:r>
              <a:endParaRPr lang="en-IN" sz="1300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7461C7D-49DD-7653-815A-22882BF14845}"/>
                </a:ext>
              </a:extLst>
            </p:cNvPr>
            <p:cNvSpPr/>
            <p:nvPr/>
          </p:nvSpPr>
          <p:spPr>
            <a:xfrm>
              <a:off x="8053982" y="2840533"/>
              <a:ext cx="3001367" cy="1800820"/>
            </a:xfrm>
            <a:custGeom>
              <a:avLst/>
              <a:gdLst>
                <a:gd name="csX0" fmla="*/ 0 w 3001367"/>
                <a:gd name="csY0" fmla="*/ 0 h 1800820"/>
                <a:gd name="csX1" fmla="*/ 3001367 w 3001367"/>
                <a:gd name="csY1" fmla="*/ 0 h 1800820"/>
                <a:gd name="csX2" fmla="*/ 3001367 w 3001367"/>
                <a:gd name="csY2" fmla="*/ 1800820 h 1800820"/>
                <a:gd name="csX3" fmla="*/ 0 w 3001367"/>
                <a:gd name="csY3" fmla="*/ 1800820 h 1800820"/>
                <a:gd name="csX4" fmla="*/ 0 w 3001367"/>
                <a:gd name="csY4" fmla="*/ 0 h 18008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01367" h="1800820">
                  <a:moveTo>
                    <a:pt x="0" y="0"/>
                  </a:moveTo>
                  <a:lnTo>
                    <a:pt x="3001367" y="0"/>
                  </a:lnTo>
                  <a:lnTo>
                    <a:pt x="3001367" y="1800820"/>
                  </a:lnTo>
                  <a:lnTo>
                    <a:pt x="0" y="18008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t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/>
                <a:t>3.Potential Business Actions</a:t>
              </a:r>
              <a:endParaRPr lang="en-IN" sz="170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300" kern="1200" dirty="0"/>
                <a:t>Focus on high-weight/high-value categories for supply chain optimization.</a:t>
              </a:r>
              <a:endParaRPr lang="en-IN" sz="130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300" kern="1200"/>
                <a:t>Review slow-moving categories for promotions or discounts.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300" kern="1200" dirty="0"/>
                <a:t>Fix missing/incorrect data to improve reporting accuracy.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2177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A9975-86D6-86A0-548A-3321A5D85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5C282-43A7-8C06-A64D-4A2178328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258" y="1907311"/>
            <a:ext cx="9603275" cy="4062414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 fontScale="25000" lnSpcReduction="20000"/>
          </a:bodyPr>
          <a:lstStyle/>
          <a:p>
            <a:r>
              <a:rPr lang="en-US" sz="5600" b="1" dirty="0"/>
              <a:t>1. Inventory Insights</a:t>
            </a:r>
            <a:endParaRPr lang="en-US" sz="5600" dirty="0"/>
          </a:p>
          <a:p>
            <a:r>
              <a:rPr lang="en-US" sz="4800" dirty="0"/>
              <a:t>Total inventory weight varies significantly across categories.</a:t>
            </a:r>
          </a:p>
          <a:p>
            <a:r>
              <a:rPr lang="en-US" sz="4800" dirty="0"/>
              <a:t>Some categories dominate stock holding → focus on optimizing storage &amp; supply.</a:t>
            </a:r>
          </a:p>
          <a:p>
            <a:r>
              <a:rPr lang="en-US" sz="5600" b="1" dirty="0"/>
              <a:t>2. Sales &amp; Pricing Trends</a:t>
            </a:r>
            <a:endParaRPr lang="en-US" sz="5600" dirty="0"/>
          </a:p>
          <a:p>
            <a:r>
              <a:rPr lang="en-US" sz="4800" dirty="0"/>
              <a:t>High discounts in certain categories may affect profit margins.</a:t>
            </a:r>
          </a:p>
          <a:p>
            <a:r>
              <a:rPr lang="en-US" sz="4800" dirty="0"/>
              <a:t>Top-selling categories need continuous stock monitoring.</a:t>
            </a:r>
          </a:p>
          <a:p>
            <a:r>
              <a:rPr lang="en-US" sz="5600" b="1" dirty="0"/>
              <a:t>3. Data Quality &amp; Accuracy</a:t>
            </a:r>
            <a:endParaRPr lang="en-US" sz="5600" dirty="0"/>
          </a:p>
          <a:p>
            <a:r>
              <a:rPr lang="en-US" sz="4800" dirty="0"/>
              <a:t>Presence of nulls in key fields (name, category, </a:t>
            </a:r>
            <a:r>
              <a:rPr lang="en-US" sz="4800" dirty="0" err="1"/>
              <a:t>mrp</a:t>
            </a:r>
            <a:r>
              <a:rPr lang="en-US" sz="4800" dirty="0"/>
              <a:t>, </a:t>
            </a:r>
            <a:r>
              <a:rPr lang="en-US" sz="4800" dirty="0" err="1"/>
              <a:t>availableQuantity</a:t>
            </a:r>
            <a:r>
              <a:rPr lang="en-US" sz="4800" dirty="0"/>
              <a:t>)</a:t>
            </a:r>
            <a:br>
              <a:rPr lang="en-US" sz="4800" dirty="0"/>
            </a:br>
            <a:r>
              <a:rPr lang="en-US" sz="4800" dirty="0"/>
              <a:t>→ potential gaps in reporting &amp; decision-making.</a:t>
            </a:r>
          </a:p>
          <a:p>
            <a:r>
              <a:rPr lang="en-US" sz="5600" b="1" dirty="0"/>
              <a:t>4. Business Recommendations</a:t>
            </a:r>
          </a:p>
          <a:p>
            <a:r>
              <a:rPr lang="en-US" sz="4800" dirty="0"/>
              <a:t>Prioritize high-weight/high-value categories for efficient inventory management.</a:t>
            </a:r>
          </a:p>
          <a:p>
            <a:r>
              <a:rPr lang="en-US" sz="4800" dirty="0"/>
              <a:t>Implement promotions for slow-moving stock.</a:t>
            </a:r>
          </a:p>
          <a:p>
            <a:r>
              <a:rPr lang="en-US" sz="4800" dirty="0"/>
              <a:t>Clean and validate data to improve future analysis accuracy.</a:t>
            </a:r>
          </a:p>
          <a:p>
            <a:pPr marL="0" indent="0">
              <a:buNone/>
            </a:pPr>
            <a:r>
              <a:rPr lang="en-US" sz="4000" dirty="0"/>
              <a:t>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2A22C-70D0-9778-CF41-218AEC66DB46}"/>
              </a:ext>
            </a:extLst>
          </p:cNvPr>
          <p:cNvSpPr txBox="1"/>
          <p:nvPr/>
        </p:nvSpPr>
        <p:spPr>
          <a:xfrm>
            <a:off x="1177258" y="5969725"/>
            <a:ext cx="9603275" cy="492443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 </a:t>
            </a:r>
            <a:r>
              <a:rPr lang="en-US" sz="1400" b="1" dirty="0"/>
              <a:t>Overall:</a:t>
            </a:r>
            <a:br>
              <a:rPr lang="en-US" sz="4000" dirty="0"/>
            </a:br>
            <a:r>
              <a:rPr lang="en-US" sz="1200" dirty="0" err="1"/>
              <a:t>Zepto’s</a:t>
            </a:r>
            <a:r>
              <a:rPr lang="en-US" sz="1200" dirty="0"/>
              <a:t> inventory analysis provides actionable insights for </a:t>
            </a:r>
            <a:r>
              <a:rPr lang="en-US" sz="1200" b="1" dirty="0"/>
              <a:t>stock optimization, sales planning, and better decision-making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800413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131</TotalTime>
  <Words>944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Times New Roman</vt:lpstr>
      <vt:lpstr>Gallery</vt:lpstr>
      <vt:lpstr>Zepto SQL Data Analysis Project</vt:lpstr>
      <vt:lpstr>INTRODUCTION</vt:lpstr>
      <vt:lpstr>Dataset Description</vt:lpstr>
      <vt:lpstr>Problem Statement</vt:lpstr>
      <vt:lpstr>Objective of the Study</vt:lpstr>
      <vt:lpstr>PowerPoint Presentation</vt:lpstr>
      <vt:lpstr>Q3. Find the top 10 best-value products based on the discount percentage.</vt:lpstr>
      <vt:lpstr>PowerPoint Presentation</vt:lpstr>
      <vt:lpstr>PowerPoint Presentation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koushik bera</dc:creator>
  <cp:lastModifiedBy>koushik bera</cp:lastModifiedBy>
  <cp:revision>5</cp:revision>
  <dcterms:created xsi:type="dcterms:W3CDTF">2026-01-15T14:36:51Z</dcterms:created>
  <dcterms:modified xsi:type="dcterms:W3CDTF">2026-01-15T16:48:20Z</dcterms:modified>
</cp:coreProperties>
</file>